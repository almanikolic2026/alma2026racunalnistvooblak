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441982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  <p:txBody>
          <a:bodyPr/>
          <a:lstStyle/>
          <a:p>
            <a:endParaRPr lang="sl-SI" dirty="0"/>
          </a:p>
        </p:txBody>
      </p:sp>
      <p:sp>
        <p:nvSpPr>
          <p:cNvPr id="3" name="Text 1"/>
          <p:cNvSpPr/>
          <p:nvPr/>
        </p:nvSpPr>
        <p:spPr>
          <a:xfrm>
            <a:off x="685800" y="1691640"/>
            <a:ext cx="6217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CI/CD z GitHub Actions in AWS EC2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13232" y="281635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D8E8F0"/>
                </a:solidFill>
              </a:rPr>
              <a:t>Postavitev Node.js aplikacije na strežnik v oblaku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13232" y="3456432"/>
            <a:ext cx="1143000" cy="310896"/>
          </a:xfrm>
          <a:prstGeom prst="roundRect">
            <a:avLst>
              <a:gd name="adj" fmla="val 23529"/>
            </a:avLst>
          </a:prstGeom>
          <a:solidFill>
            <a:srgbClr val="0D6B83"/>
          </a:solidFill>
          <a:ln w="12700">
            <a:solidFill>
              <a:srgbClr val="0D6B83"/>
            </a:solidFill>
            <a:prstDash val="solid"/>
          </a:ln>
        </p:spPr>
        <p:txBody>
          <a:bodyPr/>
          <a:lstStyle/>
          <a:p>
            <a:endParaRPr lang="sl-SI"/>
          </a:p>
        </p:txBody>
      </p:sp>
      <p:sp>
        <p:nvSpPr>
          <p:cNvPr id="6" name="Text 4"/>
          <p:cNvSpPr/>
          <p:nvPr/>
        </p:nvSpPr>
        <p:spPr>
          <a:xfrm>
            <a:off x="832104" y="3525012"/>
            <a:ext cx="9052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0" b="1" dirty="0">
                <a:solidFill>
                  <a:srgbClr val="FFFFFF"/>
                </a:solidFill>
              </a:rPr>
              <a:t>Node.js</a:t>
            </a:r>
            <a:endParaRPr lang="en-US" sz="830" dirty="0"/>
          </a:p>
        </p:txBody>
      </p:sp>
      <p:sp>
        <p:nvSpPr>
          <p:cNvPr id="7" name="Shape 5"/>
          <p:cNvSpPr/>
          <p:nvPr/>
        </p:nvSpPr>
        <p:spPr>
          <a:xfrm>
            <a:off x="1965960" y="3456432"/>
            <a:ext cx="1280160" cy="310896"/>
          </a:xfrm>
          <a:prstGeom prst="roundRect">
            <a:avLst>
              <a:gd name="adj" fmla="val 23529"/>
            </a:avLst>
          </a:prstGeom>
          <a:solidFill>
            <a:srgbClr val="0D6B83"/>
          </a:solidFill>
          <a:ln w="12700">
            <a:solidFill>
              <a:srgbClr val="0D6B83"/>
            </a:solidFill>
            <a:prstDash val="solid"/>
          </a:ln>
        </p:spPr>
        <p:txBody>
          <a:bodyPr/>
          <a:lstStyle/>
          <a:p>
            <a:endParaRPr lang="sl-SI"/>
          </a:p>
        </p:txBody>
      </p:sp>
      <p:sp>
        <p:nvSpPr>
          <p:cNvPr id="8" name="Text 6"/>
          <p:cNvSpPr/>
          <p:nvPr/>
        </p:nvSpPr>
        <p:spPr>
          <a:xfrm>
            <a:off x="2084832" y="3525012"/>
            <a:ext cx="10424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0" b="1" dirty="0">
                <a:solidFill>
                  <a:srgbClr val="FFFFFF"/>
                </a:solidFill>
              </a:rPr>
              <a:t>AWS EC2</a:t>
            </a:r>
            <a:endParaRPr lang="en-US" sz="830" dirty="0"/>
          </a:p>
        </p:txBody>
      </p:sp>
      <p:sp>
        <p:nvSpPr>
          <p:cNvPr id="9" name="Shape 7"/>
          <p:cNvSpPr/>
          <p:nvPr/>
        </p:nvSpPr>
        <p:spPr>
          <a:xfrm>
            <a:off x="3383280" y="3456432"/>
            <a:ext cx="1920240" cy="310896"/>
          </a:xfrm>
          <a:prstGeom prst="roundRect">
            <a:avLst>
              <a:gd name="adj" fmla="val 23529"/>
            </a:avLst>
          </a:prstGeom>
          <a:solidFill>
            <a:srgbClr val="0D6B83"/>
          </a:solidFill>
          <a:ln w="12700">
            <a:solidFill>
              <a:srgbClr val="0D6B83"/>
            </a:solidFill>
            <a:prstDash val="solid"/>
          </a:ln>
        </p:spPr>
        <p:txBody>
          <a:bodyPr/>
          <a:lstStyle/>
          <a:p>
            <a:endParaRPr lang="sl-SI"/>
          </a:p>
        </p:txBody>
      </p:sp>
      <p:sp>
        <p:nvSpPr>
          <p:cNvPr id="10" name="Text 8"/>
          <p:cNvSpPr/>
          <p:nvPr/>
        </p:nvSpPr>
        <p:spPr>
          <a:xfrm>
            <a:off x="3502152" y="3525012"/>
            <a:ext cx="16824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0" b="1" dirty="0">
                <a:solidFill>
                  <a:srgbClr val="FFFFFF"/>
                </a:solidFill>
              </a:rPr>
              <a:t>GitHub Actions</a:t>
            </a:r>
            <a:endParaRPr lang="en-US" sz="830" dirty="0"/>
          </a:p>
        </p:txBody>
      </p:sp>
      <p:sp>
        <p:nvSpPr>
          <p:cNvPr id="11" name="Shape 9"/>
          <p:cNvSpPr/>
          <p:nvPr/>
        </p:nvSpPr>
        <p:spPr>
          <a:xfrm>
            <a:off x="5440680" y="3456432"/>
            <a:ext cx="1600200" cy="310896"/>
          </a:xfrm>
          <a:prstGeom prst="roundRect">
            <a:avLst>
              <a:gd name="adj" fmla="val 23529"/>
            </a:avLst>
          </a:prstGeom>
          <a:solidFill>
            <a:srgbClr val="0D6B83"/>
          </a:solidFill>
          <a:ln w="12700">
            <a:solidFill>
              <a:srgbClr val="0D6B83"/>
            </a:solidFill>
            <a:prstDash val="solid"/>
          </a:ln>
        </p:spPr>
        <p:txBody>
          <a:bodyPr/>
          <a:lstStyle/>
          <a:p>
            <a:endParaRPr lang="sl-SI"/>
          </a:p>
        </p:txBody>
      </p:sp>
      <p:sp>
        <p:nvSpPr>
          <p:cNvPr id="12" name="Text 10"/>
          <p:cNvSpPr/>
          <p:nvPr/>
        </p:nvSpPr>
        <p:spPr>
          <a:xfrm>
            <a:off x="5559552" y="3525012"/>
            <a:ext cx="1362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0" b="1" dirty="0">
                <a:solidFill>
                  <a:srgbClr val="FFFFFF"/>
                </a:solidFill>
              </a:rPr>
              <a:t>PM2 + Nginx</a:t>
            </a:r>
            <a:endParaRPr lang="en-US" sz="830" dirty="0"/>
          </a:p>
        </p:txBody>
      </p:sp>
      <p:sp>
        <p:nvSpPr>
          <p:cNvPr id="14" name="Text 11"/>
          <p:cNvSpPr/>
          <p:nvPr/>
        </p:nvSpPr>
        <p:spPr>
          <a:xfrm>
            <a:off x="713232" y="626364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sl-SI" sz="1050" dirty="0">
                <a:solidFill>
                  <a:srgbClr val="B7CAD6"/>
                </a:solidFill>
              </a:rPr>
              <a:t>Tim Slana - Računalništvo v oblaku in mobilne rešitve </a:t>
            </a:r>
            <a:endParaRPr lang="en-US" sz="1050" dirty="0">
              <a:solidFill>
                <a:srgbClr val="B7CAD6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 w="12700">
            <a:solidFill>
              <a:srgbClr val="F7F9FB"/>
            </a:solidFill>
            <a:prstDash val="solid"/>
          </a:ln>
        </p:spPr>
        <p:txBody>
          <a:bodyPr/>
          <a:lstStyle/>
          <a:p>
            <a:endParaRPr lang="sl-SI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4B67"/>
          </a:solidFill>
          <a:ln w="12700">
            <a:solidFill>
              <a:srgbClr val="004B67"/>
            </a:solidFill>
            <a:prstDash val="solid"/>
          </a:ln>
        </p:spPr>
        <p:txBody>
          <a:bodyPr/>
          <a:lstStyle/>
          <a:p>
            <a:endParaRPr lang="sl-SI"/>
          </a:p>
        </p:txBody>
      </p:sp>
      <p:sp>
        <p:nvSpPr>
          <p:cNvPr id="4" name="Text 2"/>
          <p:cNvSpPr/>
          <p:nvPr/>
        </p:nvSpPr>
        <p:spPr>
          <a:xfrm>
            <a:off x="502920" y="347472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Namen in cilji projekta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21208" y="786384"/>
            <a:ext cx="8046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6B78"/>
                </a:solidFill>
              </a:rPr>
              <a:t>Osnovni prikaz poti od kode do delujoče spletne aplikacije na AWS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94360" y="1234440"/>
            <a:ext cx="530352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F2933"/>
                </a:solidFill>
              </a:rPr>
              <a:t>Namen projekta je bil pripraviti preprosto Node.js aplikacijo in prikazati, kako se spremembe kode samodejno objavijo na AWS EC2 strežnik.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400800" y="1143000"/>
            <a:ext cx="438912" cy="438912"/>
          </a:xfrm>
          <a:prstGeom prst="ellipse">
            <a:avLst/>
          </a:prstGeom>
          <a:solidFill>
            <a:srgbClr val="004B67"/>
          </a:solidFill>
          <a:ln w="12700">
            <a:solidFill>
              <a:srgbClr val="004B67"/>
            </a:solidFill>
            <a:prstDash val="solid"/>
          </a:ln>
        </p:spPr>
        <p:txBody>
          <a:bodyPr/>
          <a:lstStyle/>
          <a:p>
            <a:endParaRPr lang="sl-SI"/>
          </a:p>
        </p:txBody>
      </p:sp>
      <p:sp>
        <p:nvSpPr>
          <p:cNvPr id="8" name="Text 6"/>
          <p:cNvSpPr/>
          <p:nvPr/>
        </p:nvSpPr>
        <p:spPr>
          <a:xfrm>
            <a:off x="6400800" y="1252728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040880" y="1133856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3"/>
                </a:solidFill>
              </a:rPr>
              <a:t>EC2 strežnik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040880" y="1426464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D6B78"/>
                </a:solidFill>
              </a:rPr>
              <a:t>zagon virtualnega strežnika v oblaku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00800" y="2258568"/>
            <a:ext cx="438912" cy="438912"/>
          </a:xfrm>
          <a:prstGeom prst="ellipse">
            <a:avLst/>
          </a:prstGeom>
          <a:solidFill>
            <a:srgbClr val="004B67"/>
          </a:solidFill>
          <a:ln w="12700">
            <a:solidFill>
              <a:srgbClr val="004B67"/>
            </a:solidFill>
            <a:prstDash val="solid"/>
          </a:ln>
        </p:spPr>
        <p:txBody>
          <a:bodyPr/>
          <a:lstStyle/>
          <a:p>
            <a:endParaRPr lang="sl-SI"/>
          </a:p>
        </p:txBody>
      </p:sp>
      <p:sp>
        <p:nvSpPr>
          <p:cNvPr id="12" name="Text 10"/>
          <p:cNvSpPr/>
          <p:nvPr/>
        </p:nvSpPr>
        <p:spPr>
          <a:xfrm>
            <a:off x="6400800" y="2368296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040880" y="2249424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3"/>
                </a:solidFill>
              </a:rPr>
              <a:t>SSH dostop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040880" y="254203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D6B78"/>
                </a:solidFill>
              </a:rPr>
              <a:t>varno povezovanje s ključem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0" y="3374136"/>
            <a:ext cx="438912" cy="438912"/>
          </a:xfrm>
          <a:prstGeom prst="ellipse">
            <a:avLst/>
          </a:prstGeom>
          <a:solidFill>
            <a:srgbClr val="004B67"/>
          </a:solidFill>
          <a:ln w="12700">
            <a:solidFill>
              <a:srgbClr val="004B67"/>
            </a:solidFill>
            <a:prstDash val="solid"/>
          </a:ln>
        </p:spPr>
        <p:txBody>
          <a:bodyPr/>
          <a:lstStyle/>
          <a:p>
            <a:endParaRPr lang="sl-SI"/>
          </a:p>
        </p:txBody>
      </p:sp>
      <p:sp>
        <p:nvSpPr>
          <p:cNvPr id="16" name="Text 14"/>
          <p:cNvSpPr/>
          <p:nvPr/>
        </p:nvSpPr>
        <p:spPr>
          <a:xfrm>
            <a:off x="6400800" y="3483864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040880" y="3364992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3"/>
                </a:solidFill>
              </a:rPr>
              <a:t>Nginx + PM2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040880" y="365760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D6B78"/>
                </a:solidFill>
              </a:rPr>
              <a:t>javni dostop in stabilen proces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0" y="4489704"/>
            <a:ext cx="438912" cy="438912"/>
          </a:xfrm>
          <a:prstGeom prst="ellipse">
            <a:avLst/>
          </a:prstGeom>
          <a:solidFill>
            <a:srgbClr val="004B67"/>
          </a:solidFill>
          <a:ln w="12700">
            <a:solidFill>
              <a:srgbClr val="004B67"/>
            </a:solidFill>
            <a:prstDash val="solid"/>
          </a:ln>
        </p:spPr>
        <p:txBody>
          <a:bodyPr/>
          <a:lstStyle/>
          <a:p>
            <a:endParaRPr lang="sl-SI"/>
          </a:p>
        </p:txBody>
      </p:sp>
      <p:sp>
        <p:nvSpPr>
          <p:cNvPr id="20" name="Text 18"/>
          <p:cNvSpPr/>
          <p:nvPr/>
        </p:nvSpPr>
        <p:spPr>
          <a:xfrm>
            <a:off x="6400800" y="4599432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040880" y="4480560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3"/>
                </a:solidFill>
              </a:rPr>
              <a:t>GitHub Actions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040880" y="477316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D6B78"/>
                </a:solidFill>
              </a:rPr>
              <a:t>samodejna objava ob pushu na main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 w="12700">
            <a:solidFill>
              <a:srgbClr val="F7F9FB"/>
            </a:solidFill>
            <a:prstDash val="solid"/>
          </a:ln>
        </p:spPr>
        <p:txBody>
          <a:bodyPr/>
          <a:lstStyle/>
          <a:p>
            <a:endParaRPr lang="sl-SI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4B67"/>
          </a:solidFill>
          <a:ln w="12700">
            <a:solidFill>
              <a:srgbClr val="004B67"/>
            </a:solidFill>
            <a:prstDash val="solid"/>
          </a:ln>
        </p:spPr>
        <p:txBody>
          <a:bodyPr/>
          <a:lstStyle/>
          <a:p>
            <a:endParaRPr lang="sl-SI"/>
          </a:p>
        </p:txBody>
      </p:sp>
      <p:sp>
        <p:nvSpPr>
          <p:cNvPr id="4" name="Text 2"/>
          <p:cNvSpPr/>
          <p:nvPr/>
        </p:nvSpPr>
        <p:spPr>
          <a:xfrm>
            <a:off x="502920" y="347472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Celoten potek rešitve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21208" y="786384"/>
            <a:ext cx="8046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6B78"/>
                </a:solidFill>
              </a:rPr>
              <a:t>Razvoj, objava in dostop do aplikacije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2359152" y="2788920"/>
            <a:ext cx="502920" cy="347472"/>
          </a:xfrm>
          <a:prstGeom prst="chevron">
            <a:avLst/>
          </a:prstGeom>
          <a:solidFill>
            <a:srgbClr val="C9D7E1"/>
          </a:solidFill>
          <a:ln w="12700">
            <a:solidFill>
              <a:srgbClr val="C9D7E1"/>
            </a:solidFill>
            <a:prstDash val="solid"/>
          </a:ln>
        </p:spPr>
        <p:txBody>
          <a:bodyPr/>
          <a:lstStyle/>
          <a:p>
            <a:endParaRPr lang="sl-SI"/>
          </a:p>
        </p:txBody>
      </p:sp>
      <p:sp>
        <p:nvSpPr>
          <p:cNvPr id="7" name="Shape 5"/>
          <p:cNvSpPr/>
          <p:nvPr/>
        </p:nvSpPr>
        <p:spPr>
          <a:xfrm>
            <a:off x="4507992" y="2788920"/>
            <a:ext cx="502920" cy="347472"/>
          </a:xfrm>
          <a:prstGeom prst="chevron">
            <a:avLst/>
          </a:prstGeom>
          <a:solidFill>
            <a:srgbClr val="C9D7E1"/>
          </a:solidFill>
          <a:ln w="12700">
            <a:solidFill>
              <a:srgbClr val="C9D7E1"/>
            </a:solidFill>
            <a:prstDash val="solid"/>
          </a:ln>
        </p:spPr>
        <p:txBody>
          <a:bodyPr/>
          <a:lstStyle/>
          <a:p>
            <a:endParaRPr lang="sl-SI"/>
          </a:p>
        </p:txBody>
      </p:sp>
      <p:sp>
        <p:nvSpPr>
          <p:cNvPr id="8" name="Shape 6"/>
          <p:cNvSpPr/>
          <p:nvPr/>
        </p:nvSpPr>
        <p:spPr>
          <a:xfrm>
            <a:off x="6656832" y="2788920"/>
            <a:ext cx="502920" cy="347472"/>
          </a:xfrm>
          <a:prstGeom prst="chevron">
            <a:avLst/>
          </a:prstGeom>
          <a:solidFill>
            <a:srgbClr val="C9D7E1"/>
          </a:solidFill>
          <a:ln w="12700">
            <a:solidFill>
              <a:srgbClr val="C9D7E1"/>
            </a:solidFill>
            <a:prstDash val="solid"/>
          </a:ln>
        </p:spPr>
        <p:txBody>
          <a:bodyPr/>
          <a:lstStyle/>
          <a:p>
            <a:endParaRPr lang="sl-SI"/>
          </a:p>
        </p:txBody>
      </p:sp>
      <p:sp>
        <p:nvSpPr>
          <p:cNvPr id="9" name="Shape 7"/>
          <p:cNvSpPr/>
          <p:nvPr/>
        </p:nvSpPr>
        <p:spPr>
          <a:xfrm>
            <a:off x="8805672" y="2788920"/>
            <a:ext cx="502920" cy="347472"/>
          </a:xfrm>
          <a:prstGeom prst="chevron">
            <a:avLst/>
          </a:prstGeom>
          <a:solidFill>
            <a:srgbClr val="C9D7E1"/>
          </a:solidFill>
          <a:ln w="12700">
            <a:solidFill>
              <a:srgbClr val="C9D7E1"/>
            </a:solidFill>
            <a:prstDash val="solid"/>
          </a:ln>
        </p:spPr>
        <p:txBody>
          <a:bodyPr/>
          <a:lstStyle/>
          <a:p>
            <a:endParaRPr lang="sl-SI"/>
          </a:p>
        </p:txBody>
      </p:sp>
      <p:sp>
        <p:nvSpPr>
          <p:cNvPr id="10" name="Shape 8"/>
          <p:cNvSpPr/>
          <p:nvPr/>
        </p:nvSpPr>
        <p:spPr>
          <a:xfrm>
            <a:off x="731520" y="2240280"/>
            <a:ext cx="1508760" cy="1261872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13970">
            <a:solidFill>
              <a:srgbClr val="C9D7E1"/>
            </a:solidFill>
            <a:prstDash val="solid"/>
          </a:ln>
          <a:effectLst>
            <a:outerShdw blurRad="25400" dist="50800" dir="2700000" algn="bl" rotWithShape="0">
              <a:srgbClr val="BBC8D2">
                <a:alpha val="25000"/>
              </a:srgbClr>
            </a:outerShdw>
          </a:effectLst>
        </p:spPr>
        <p:txBody>
          <a:bodyPr/>
          <a:lstStyle/>
          <a:p>
            <a:endParaRPr lang="sl-SI"/>
          </a:p>
        </p:txBody>
      </p:sp>
      <p:sp>
        <p:nvSpPr>
          <p:cNvPr id="11" name="Text 9"/>
          <p:cNvSpPr/>
          <p:nvPr/>
        </p:nvSpPr>
        <p:spPr>
          <a:xfrm>
            <a:off x="841248" y="254203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3"/>
                </a:solidFill>
              </a:rPr>
              <a:t>Razvijalec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50392" y="2889504"/>
            <a:ext cx="1261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dirty="0">
                <a:solidFill>
                  <a:srgbClr val="5D6B78"/>
                </a:solidFill>
              </a:rPr>
              <a:t>spremeni kodo</a:t>
            </a:r>
            <a:endParaRPr lang="en-US" sz="860" dirty="0"/>
          </a:p>
        </p:txBody>
      </p:sp>
      <p:sp>
        <p:nvSpPr>
          <p:cNvPr id="13" name="Shape 11"/>
          <p:cNvSpPr/>
          <p:nvPr/>
        </p:nvSpPr>
        <p:spPr>
          <a:xfrm>
            <a:off x="2880360" y="2240280"/>
            <a:ext cx="1508760" cy="1261872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13970">
            <a:solidFill>
              <a:srgbClr val="C9D7E1"/>
            </a:solidFill>
            <a:prstDash val="solid"/>
          </a:ln>
          <a:effectLst>
            <a:outerShdw blurRad="25400" dist="50800" dir="2700000" algn="bl" rotWithShape="0">
              <a:srgbClr val="BBC8D2">
                <a:alpha val="25000"/>
              </a:srgbClr>
            </a:outerShdw>
          </a:effectLst>
        </p:spPr>
        <p:txBody>
          <a:bodyPr/>
          <a:lstStyle/>
          <a:p>
            <a:endParaRPr lang="sl-SI"/>
          </a:p>
        </p:txBody>
      </p:sp>
      <p:sp>
        <p:nvSpPr>
          <p:cNvPr id="14" name="Text 12"/>
          <p:cNvSpPr/>
          <p:nvPr/>
        </p:nvSpPr>
        <p:spPr>
          <a:xfrm>
            <a:off x="2990088" y="254203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3"/>
                </a:solidFill>
              </a:rPr>
              <a:t>GitHub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999232" y="2889504"/>
            <a:ext cx="1261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dirty="0">
                <a:solidFill>
                  <a:srgbClr val="5D6B78"/>
                </a:solidFill>
              </a:rPr>
              <a:t>repozitorij</a:t>
            </a:r>
            <a:endParaRPr lang="en-US" sz="860" dirty="0"/>
          </a:p>
        </p:txBody>
      </p:sp>
      <p:sp>
        <p:nvSpPr>
          <p:cNvPr id="16" name="Shape 14"/>
          <p:cNvSpPr/>
          <p:nvPr/>
        </p:nvSpPr>
        <p:spPr>
          <a:xfrm>
            <a:off x="5029200" y="2240280"/>
            <a:ext cx="1508760" cy="1261872"/>
          </a:xfrm>
          <a:prstGeom prst="roundRect">
            <a:avLst>
              <a:gd name="adj" fmla="val 7246"/>
            </a:avLst>
          </a:prstGeom>
          <a:solidFill>
            <a:srgbClr val="004B67"/>
          </a:solidFill>
          <a:ln w="13970">
            <a:solidFill>
              <a:srgbClr val="004B67"/>
            </a:solidFill>
            <a:prstDash val="solid"/>
          </a:ln>
          <a:effectLst>
            <a:outerShdw blurRad="25400" dist="50800" dir="2700000" algn="bl" rotWithShape="0">
              <a:srgbClr val="BBC8D2">
                <a:alpha val="25000"/>
              </a:srgbClr>
            </a:outerShdw>
          </a:effectLst>
        </p:spPr>
        <p:txBody>
          <a:bodyPr/>
          <a:lstStyle/>
          <a:p>
            <a:endParaRPr lang="sl-SI"/>
          </a:p>
        </p:txBody>
      </p:sp>
      <p:sp>
        <p:nvSpPr>
          <p:cNvPr id="17" name="Text 15"/>
          <p:cNvSpPr/>
          <p:nvPr/>
        </p:nvSpPr>
        <p:spPr>
          <a:xfrm>
            <a:off x="5138928" y="254203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Actions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148072" y="2889504"/>
            <a:ext cx="1261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dirty="0">
                <a:solidFill>
                  <a:srgbClr val="DDEFF4"/>
                </a:solidFill>
              </a:rPr>
              <a:t>CI/CD workflow</a:t>
            </a:r>
            <a:endParaRPr lang="en-US" sz="860" dirty="0"/>
          </a:p>
        </p:txBody>
      </p:sp>
      <p:sp>
        <p:nvSpPr>
          <p:cNvPr id="19" name="Shape 17"/>
          <p:cNvSpPr/>
          <p:nvPr/>
        </p:nvSpPr>
        <p:spPr>
          <a:xfrm>
            <a:off x="7178040" y="2240280"/>
            <a:ext cx="1508760" cy="1261872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13970">
            <a:solidFill>
              <a:srgbClr val="C9D7E1"/>
            </a:solidFill>
            <a:prstDash val="solid"/>
          </a:ln>
          <a:effectLst>
            <a:outerShdw blurRad="25400" dist="50800" dir="2700000" algn="bl" rotWithShape="0">
              <a:srgbClr val="BBC8D2">
                <a:alpha val="25000"/>
              </a:srgbClr>
            </a:outerShdw>
          </a:effectLst>
        </p:spPr>
        <p:txBody>
          <a:bodyPr/>
          <a:lstStyle/>
          <a:p>
            <a:endParaRPr lang="sl-SI"/>
          </a:p>
        </p:txBody>
      </p:sp>
      <p:sp>
        <p:nvSpPr>
          <p:cNvPr id="20" name="Text 18"/>
          <p:cNvSpPr/>
          <p:nvPr/>
        </p:nvSpPr>
        <p:spPr>
          <a:xfrm>
            <a:off x="7287768" y="254203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3"/>
                </a:solidFill>
              </a:rPr>
              <a:t>AWS EC2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296912" y="2889504"/>
            <a:ext cx="1261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dirty="0">
                <a:solidFill>
                  <a:srgbClr val="5D6B78"/>
                </a:solidFill>
              </a:rPr>
              <a:t>strežnik</a:t>
            </a:r>
            <a:endParaRPr lang="en-US" sz="860" dirty="0"/>
          </a:p>
        </p:txBody>
      </p:sp>
      <p:sp>
        <p:nvSpPr>
          <p:cNvPr id="22" name="Shape 20"/>
          <p:cNvSpPr/>
          <p:nvPr/>
        </p:nvSpPr>
        <p:spPr>
          <a:xfrm>
            <a:off x="9326880" y="2240280"/>
            <a:ext cx="1508760" cy="1261872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13970">
            <a:solidFill>
              <a:srgbClr val="C9D7E1"/>
            </a:solidFill>
            <a:prstDash val="solid"/>
          </a:ln>
          <a:effectLst>
            <a:outerShdw blurRad="25400" dist="50800" dir="2700000" algn="bl" rotWithShape="0">
              <a:srgbClr val="BBC8D2">
                <a:alpha val="25000"/>
              </a:srgbClr>
            </a:outerShdw>
          </a:effectLst>
        </p:spPr>
        <p:txBody>
          <a:bodyPr/>
          <a:lstStyle/>
          <a:p>
            <a:endParaRPr lang="sl-SI"/>
          </a:p>
        </p:txBody>
      </p:sp>
      <p:sp>
        <p:nvSpPr>
          <p:cNvPr id="23" name="Text 21"/>
          <p:cNvSpPr/>
          <p:nvPr/>
        </p:nvSpPr>
        <p:spPr>
          <a:xfrm>
            <a:off x="9436608" y="254203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3"/>
                </a:solidFill>
              </a:rPr>
              <a:t>Uporabnik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445752" y="2889504"/>
            <a:ext cx="1261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dirty="0">
                <a:solidFill>
                  <a:srgbClr val="5D6B78"/>
                </a:solidFill>
              </a:rPr>
              <a:t>brskalnik</a:t>
            </a:r>
            <a:endParaRPr lang="en-US" sz="860" dirty="0"/>
          </a:p>
        </p:txBody>
      </p:sp>
      <p:sp>
        <p:nvSpPr>
          <p:cNvPr id="25" name="Text 23"/>
          <p:cNvSpPr/>
          <p:nvPr/>
        </p:nvSpPr>
        <p:spPr>
          <a:xfrm>
            <a:off x="1143000" y="4663440"/>
            <a:ext cx="987552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F2933"/>
                </a:solidFill>
              </a:rPr>
              <a:t>GitHub Actions po vsakem potisku kode na vejo main prek SSH poveže repozitorij s strežnikom, posodobi datoteke, namesti odvisnosti in ponovno zažene aplikacijo.</a:t>
            </a:r>
            <a:endParaRPr lang="en-US" sz="1600" dirty="0"/>
          </a:p>
        </p:txBody>
      </p:sp>
      <p:pic>
        <p:nvPicPr>
          <p:cNvPr id="26" name="Image 0" descr="/mnt/data/slike_extracted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9563" y="5577840"/>
            <a:ext cx="4413834" cy="8686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 w="12700">
            <a:solidFill>
              <a:srgbClr val="F7F9FB"/>
            </a:solidFill>
            <a:prstDash val="solid"/>
          </a:ln>
        </p:spPr>
        <p:txBody>
          <a:bodyPr/>
          <a:lstStyle/>
          <a:p>
            <a:endParaRPr lang="sl-SI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4B67"/>
          </a:solidFill>
          <a:ln w="12700">
            <a:solidFill>
              <a:srgbClr val="004B67"/>
            </a:solidFill>
            <a:prstDash val="solid"/>
          </a:ln>
        </p:spPr>
        <p:txBody>
          <a:bodyPr/>
          <a:lstStyle/>
          <a:p>
            <a:endParaRPr lang="sl-SI"/>
          </a:p>
        </p:txBody>
      </p:sp>
      <p:sp>
        <p:nvSpPr>
          <p:cNvPr id="4" name="Text 2"/>
          <p:cNvSpPr/>
          <p:nvPr/>
        </p:nvSpPr>
        <p:spPr>
          <a:xfrm>
            <a:off x="502920" y="347472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AWS EC2 in omrežna pravila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21208" y="786384"/>
            <a:ext cx="8046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6B78"/>
                </a:solidFill>
              </a:rPr>
              <a:t>Uporabljen je bil obstoječi VPC, obstoječe podomrežje in ena javna EC2 instanca</a:t>
            </a:r>
            <a:endParaRPr lang="en-US" sz="950" dirty="0"/>
          </a:p>
        </p:txBody>
      </p:sp>
      <p:pic>
        <p:nvPicPr>
          <p:cNvPr id="6" name="Image 0" descr="/mnt/data/slike_extracted/image3.png"/>
          <p:cNvPicPr>
            <a:picLocks noChangeAspect="1"/>
          </p:cNvPicPr>
          <p:nvPr/>
        </p:nvPicPr>
        <p:blipFill>
          <a:blip r:embed="rId3"/>
          <a:srcRect l="2066" r="2066"/>
          <a:stretch/>
        </p:blipFill>
        <p:spPr>
          <a:xfrm>
            <a:off x="594360" y="1234440"/>
            <a:ext cx="4800600" cy="2057400"/>
          </a:xfrm>
          <a:prstGeom prst="rect">
            <a:avLst/>
          </a:prstGeom>
        </p:spPr>
      </p:pic>
      <p:pic>
        <p:nvPicPr>
          <p:cNvPr id="7" name="Image 1" descr="/mnt/data/slike_extracted/image4.png"/>
          <p:cNvPicPr>
            <a:picLocks noChangeAspect="1"/>
          </p:cNvPicPr>
          <p:nvPr/>
        </p:nvPicPr>
        <p:blipFill>
          <a:blip r:embed="rId4"/>
          <a:srcRect l="3087" r="3087"/>
          <a:stretch/>
        </p:blipFill>
        <p:spPr>
          <a:xfrm>
            <a:off x="594360" y="3657600"/>
            <a:ext cx="4800600" cy="1005840"/>
          </a:xfrm>
          <a:prstGeom prst="rect">
            <a:avLst/>
          </a:prstGeom>
        </p:spPr>
      </p:pic>
      <p:pic>
        <p:nvPicPr>
          <p:cNvPr id="8" name="Image 2" descr="/mnt/data/slike_extracted/image6.png"/>
          <p:cNvPicPr>
            <a:picLocks noChangeAspect="1"/>
          </p:cNvPicPr>
          <p:nvPr/>
        </p:nvPicPr>
        <p:blipFill>
          <a:blip r:embed="rId5"/>
          <a:srcRect l="15026" r="15026"/>
          <a:stretch/>
        </p:blipFill>
        <p:spPr>
          <a:xfrm>
            <a:off x="5806440" y="1234440"/>
            <a:ext cx="5623560" cy="196596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806440" y="3520440"/>
            <a:ext cx="539496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F2933"/>
                </a:solidFill>
              </a:rPr>
              <a:t>Skripta omogoča ponovni zagon: če ključ ali varnostna skupina že obstajata, ju ponovno uporabi. Nova instanca dobi javni IP naslov, ki se nato uporabi v brskalniku in v GitHub Secrets.</a:t>
            </a:r>
            <a:endParaRPr lang="en-US" sz="1500" dirty="0"/>
          </a:p>
        </p:txBody>
      </p:sp>
      <p:sp>
        <p:nvSpPr>
          <p:cNvPr id="10" name="Shape 5"/>
          <p:cNvSpPr/>
          <p:nvPr/>
        </p:nvSpPr>
        <p:spPr>
          <a:xfrm>
            <a:off x="5833872" y="4892040"/>
            <a:ext cx="1097280" cy="310896"/>
          </a:xfrm>
          <a:prstGeom prst="roundRect">
            <a:avLst>
              <a:gd name="adj" fmla="val 23529"/>
            </a:avLst>
          </a:prstGeom>
          <a:solidFill>
            <a:srgbClr val="004B67"/>
          </a:solidFill>
          <a:ln w="12700">
            <a:solidFill>
              <a:srgbClr val="004B67"/>
            </a:solidFill>
            <a:prstDash val="solid"/>
          </a:ln>
        </p:spPr>
        <p:txBody>
          <a:bodyPr/>
          <a:lstStyle/>
          <a:p>
            <a:endParaRPr lang="sl-SI"/>
          </a:p>
        </p:txBody>
      </p:sp>
      <p:sp>
        <p:nvSpPr>
          <p:cNvPr id="11" name="Text 6"/>
          <p:cNvSpPr/>
          <p:nvPr/>
        </p:nvSpPr>
        <p:spPr>
          <a:xfrm>
            <a:off x="5952744" y="4960620"/>
            <a:ext cx="8595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0" b="1" dirty="0">
                <a:solidFill>
                  <a:srgbClr val="FFFFFF"/>
                </a:solidFill>
              </a:rPr>
              <a:t>SSH 22</a:t>
            </a:r>
            <a:endParaRPr lang="en-US" sz="830" dirty="0"/>
          </a:p>
        </p:txBody>
      </p:sp>
      <p:sp>
        <p:nvSpPr>
          <p:cNvPr id="12" name="Shape 7"/>
          <p:cNvSpPr/>
          <p:nvPr/>
        </p:nvSpPr>
        <p:spPr>
          <a:xfrm>
            <a:off x="7086600" y="4892040"/>
            <a:ext cx="1234440" cy="310896"/>
          </a:xfrm>
          <a:prstGeom prst="roundRect">
            <a:avLst>
              <a:gd name="adj" fmla="val 23529"/>
            </a:avLst>
          </a:prstGeom>
          <a:solidFill>
            <a:srgbClr val="004B67"/>
          </a:solidFill>
          <a:ln w="12700">
            <a:solidFill>
              <a:srgbClr val="004B67"/>
            </a:solidFill>
            <a:prstDash val="solid"/>
          </a:ln>
        </p:spPr>
        <p:txBody>
          <a:bodyPr/>
          <a:lstStyle/>
          <a:p>
            <a:endParaRPr lang="sl-SI"/>
          </a:p>
        </p:txBody>
      </p:sp>
      <p:sp>
        <p:nvSpPr>
          <p:cNvPr id="13" name="Text 8"/>
          <p:cNvSpPr/>
          <p:nvPr/>
        </p:nvSpPr>
        <p:spPr>
          <a:xfrm>
            <a:off x="7205472" y="4960620"/>
            <a:ext cx="9966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0" b="1" dirty="0">
                <a:solidFill>
                  <a:srgbClr val="FFFFFF"/>
                </a:solidFill>
              </a:rPr>
              <a:t>HTTP 80</a:t>
            </a:r>
            <a:endParaRPr lang="en-US" sz="830" dirty="0"/>
          </a:p>
        </p:txBody>
      </p:sp>
      <p:sp>
        <p:nvSpPr>
          <p:cNvPr id="14" name="Shape 9"/>
          <p:cNvSpPr/>
          <p:nvPr/>
        </p:nvSpPr>
        <p:spPr>
          <a:xfrm>
            <a:off x="8458200" y="489204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004B67"/>
          </a:solidFill>
          <a:ln w="12700">
            <a:solidFill>
              <a:srgbClr val="004B67"/>
            </a:solidFill>
            <a:prstDash val="solid"/>
          </a:ln>
        </p:spPr>
        <p:txBody>
          <a:bodyPr/>
          <a:lstStyle/>
          <a:p>
            <a:endParaRPr lang="sl-SI"/>
          </a:p>
        </p:txBody>
      </p:sp>
      <p:sp>
        <p:nvSpPr>
          <p:cNvPr id="15" name="Text 10"/>
          <p:cNvSpPr/>
          <p:nvPr/>
        </p:nvSpPr>
        <p:spPr>
          <a:xfrm>
            <a:off x="8577072" y="4960620"/>
            <a:ext cx="11795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0" b="1" dirty="0">
                <a:solidFill>
                  <a:srgbClr val="FFFFFF"/>
                </a:solidFill>
              </a:rPr>
              <a:t>HTTPS 443</a:t>
            </a:r>
            <a:endParaRPr lang="en-US" sz="83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 w="12700">
            <a:solidFill>
              <a:srgbClr val="F7F9FB"/>
            </a:solidFill>
            <a:prstDash val="solid"/>
          </a:ln>
        </p:spPr>
        <p:txBody>
          <a:bodyPr/>
          <a:lstStyle/>
          <a:p>
            <a:endParaRPr lang="sl-SI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4B67"/>
          </a:solidFill>
          <a:ln w="12700">
            <a:solidFill>
              <a:srgbClr val="004B67"/>
            </a:solidFill>
            <a:prstDash val="solid"/>
          </a:ln>
        </p:spPr>
        <p:txBody>
          <a:bodyPr/>
          <a:lstStyle/>
          <a:p>
            <a:endParaRPr lang="sl-SI"/>
          </a:p>
        </p:txBody>
      </p:sp>
      <p:sp>
        <p:nvSpPr>
          <p:cNvPr id="4" name="Text 2"/>
          <p:cNvSpPr/>
          <p:nvPr/>
        </p:nvSpPr>
        <p:spPr>
          <a:xfrm>
            <a:off x="502920" y="347472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Priprava strežnika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21208" y="786384"/>
            <a:ext cx="8046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6B78"/>
                </a:solidFill>
              </a:rPr>
              <a:t>Na EC2 instanci so nameščena orodja za izvajanje in objavo aplikacije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77240" y="1280160"/>
            <a:ext cx="44805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C9D7E1"/>
            </a:solidFill>
            <a:prstDash val="solid"/>
          </a:ln>
        </p:spPr>
        <p:txBody>
          <a:bodyPr/>
          <a:lstStyle/>
          <a:p>
            <a:endParaRPr lang="sl-SI"/>
          </a:p>
        </p:txBody>
      </p:sp>
      <p:sp>
        <p:nvSpPr>
          <p:cNvPr id="7" name="Text 5"/>
          <p:cNvSpPr/>
          <p:nvPr/>
        </p:nvSpPr>
        <p:spPr>
          <a:xfrm>
            <a:off x="1005840" y="141732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4B67"/>
                </a:solidFill>
              </a:rPr>
              <a:t>Git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377440" y="1444752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5D6B78"/>
                </a:solidFill>
              </a:rPr>
              <a:t>prenos kode iz repozitorija</a:t>
            </a:r>
            <a:endParaRPr lang="en-US" sz="1120" dirty="0"/>
          </a:p>
        </p:txBody>
      </p:sp>
      <p:sp>
        <p:nvSpPr>
          <p:cNvPr id="9" name="Shape 7"/>
          <p:cNvSpPr/>
          <p:nvPr/>
        </p:nvSpPr>
        <p:spPr>
          <a:xfrm>
            <a:off x="6080760" y="1280160"/>
            <a:ext cx="44805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C9D7E1"/>
            </a:solidFill>
            <a:prstDash val="solid"/>
          </a:ln>
        </p:spPr>
        <p:txBody>
          <a:bodyPr/>
          <a:lstStyle/>
          <a:p>
            <a:endParaRPr lang="sl-SI"/>
          </a:p>
        </p:txBody>
      </p:sp>
      <p:sp>
        <p:nvSpPr>
          <p:cNvPr id="10" name="Text 8"/>
          <p:cNvSpPr/>
          <p:nvPr/>
        </p:nvSpPr>
        <p:spPr>
          <a:xfrm>
            <a:off x="6309360" y="141732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4B67"/>
                </a:solidFill>
              </a:rPr>
              <a:t>Node.js + npm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680960" y="1444752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5D6B78"/>
                </a:solidFill>
              </a:rPr>
              <a:t>izvajanje aplikacije in odvisnosti</a:t>
            </a:r>
            <a:endParaRPr lang="en-US" sz="1120" dirty="0"/>
          </a:p>
        </p:txBody>
      </p:sp>
      <p:sp>
        <p:nvSpPr>
          <p:cNvPr id="12" name="Shape 10"/>
          <p:cNvSpPr/>
          <p:nvPr/>
        </p:nvSpPr>
        <p:spPr>
          <a:xfrm>
            <a:off x="777240" y="2514600"/>
            <a:ext cx="44805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C9D7E1"/>
            </a:solidFill>
            <a:prstDash val="solid"/>
          </a:ln>
        </p:spPr>
        <p:txBody>
          <a:bodyPr/>
          <a:lstStyle/>
          <a:p>
            <a:endParaRPr lang="sl-SI"/>
          </a:p>
        </p:txBody>
      </p:sp>
      <p:sp>
        <p:nvSpPr>
          <p:cNvPr id="13" name="Text 11"/>
          <p:cNvSpPr/>
          <p:nvPr/>
        </p:nvSpPr>
        <p:spPr>
          <a:xfrm>
            <a:off x="1005840" y="265176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4B67"/>
                </a:solidFill>
              </a:rPr>
              <a:t>PM2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377440" y="2679192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5D6B78"/>
                </a:solidFill>
              </a:rPr>
              <a:t>aplikacija teče v ozadju</a:t>
            </a:r>
            <a:endParaRPr lang="en-US" sz="1120" dirty="0"/>
          </a:p>
        </p:txBody>
      </p:sp>
      <p:sp>
        <p:nvSpPr>
          <p:cNvPr id="15" name="Shape 13"/>
          <p:cNvSpPr/>
          <p:nvPr/>
        </p:nvSpPr>
        <p:spPr>
          <a:xfrm>
            <a:off x="6080760" y="2514600"/>
            <a:ext cx="44805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C9D7E1"/>
            </a:solidFill>
            <a:prstDash val="solid"/>
          </a:ln>
        </p:spPr>
        <p:txBody>
          <a:bodyPr/>
          <a:lstStyle/>
          <a:p>
            <a:endParaRPr lang="sl-SI"/>
          </a:p>
        </p:txBody>
      </p:sp>
      <p:sp>
        <p:nvSpPr>
          <p:cNvPr id="16" name="Text 14"/>
          <p:cNvSpPr/>
          <p:nvPr/>
        </p:nvSpPr>
        <p:spPr>
          <a:xfrm>
            <a:off x="6309360" y="265176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4B67"/>
                </a:solidFill>
              </a:rPr>
              <a:t>Nginx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680960" y="2679192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5D6B78"/>
                </a:solidFill>
              </a:rPr>
              <a:t>reverse proxy z vrat 80 na 3000</a:t>
            </a:r>
            <a:endParaRPr lang="en-US" sz="1120" dirty="0"/>
          </a:p>
        </p:txBody>
      </p:sp>
      <p:pic>
        <p:nvPicPr>
          <p:cNvPr id="18" name="Image 0" descr="/mnt/data/slike_extracted/image5.png"/>
          <p:cNvPicPr>
            <a:picLocks noChangeAspect="1"/>
          </p:cNvPicPr>
          <p:nvPr/>
        </p:nvPicPr>
        <p:blipFill>
          <a:blip r:embed="rId3"/>
          <a:srcRect t="14836" b="14836"/>
          <a:stretch/>
        </p:blipFill>
        <p:spPr>
          <a:xfrm>
            <a:off x="777240" y="4069080"/>
            <a:ext cx="4800600" cy="1600200"/>
          </a:xfrm>
          <a:prstGeom prst="rect">
            <a:avLst/>
          </a:prstGeom>
        </p:spPr>
      </p:pic>
      <p:pic>
        <p:nvPicPr>
          <p:cNvPr id="19" name="Image 1" descr="/mnt/data/slike_extracted/image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0" y="4162974"/>
            <a:ext cx="4480560" cy="955211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6126480" y="5349240"/>
            <a:ext cx="498348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2933"/>
                </a:solidFill>
              </a:rPr>
              <a:t>Preverjanje s terminalom potrdi uspešno SSH povezavo in delujoč proces node-demo-app v PM2.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 w="12700">
            <a:solidFill>
              <a:srgbClr val="F7F9FB"/>
            </a:solidFill>
            <a:prstDash val="solid"/>
          </a:ln>
        </p:spPr>
        <p:txBody>
          <a:bodyPr/>
          <a:lstStyle/>
          <a:p>
            <a:endParaRPr lang="sl-SI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4B67"/>
          </a:solidFill>
          <a:ln w="12700">
            <a:solidFill>
              <a:srgbClr val="004B67"/>
            </a:solidFill>
            <a:prstDash val="solid"/>
          </a:ln>
        </p:spPr>
        <p:txBody>
          <a:bodyPr/>
          <a:lstStyle/>
          <a:p>
            <a:endParaRPr lang="sl-SI"/>
          </a:p>
        </p:txBody>
      </p:sp>
      <p:sp>
        <p:nvSpPr>
          <p:cNvPr id="4" name="Text 2"/>
          <p:cNvSpPr/>
          <p:nvPr/>
        </p:nvSpPr>
        <p:spPr>
          <a:xfrm>
            <a:off x="502920" y="347472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GitHub Actions CI/CD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21208" y="786384"/>
            <a:ext cx="8046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6B78"/>
                </a:solidFill>
              </a:rPr>
              <a:t>Avtomatska namestitev po vsaki spremembi na veji main</a:t>
            </a:r>
            <a:endParaRPr lang="en-US" sz="950" dirty="0"/>
          </a:p>
        </p:txBody>
      </p:sp>
      <p:pic>
        <p:nvPicPr>
          <p:cNvPr id="6" name="Image 0" descr="/mnt/data/slike_extracted/image1.png"/>
          <p:cNvPicPr>
            <a:picLocks noChangeAspect="1"/>
          </p:cNvPicPr>
          <p:nvPr/>
        </p:nvPicPr>
        <p:blipFill>
          <a:blip r:embed="rId3"/>
          <a:srcRect l="220" r="220"/>
          <a:stretch/>
        </p:blipFill>
        <p:spPr>
          <a:xfrm>
            <a:off x="640080" y="1188720"/>
            <a:ext cx="4297680" cy="2423160"/>
          </a:xfrm>
          <a:prstGeom prst="rect">
            <a:avLst/>
          </a:prstGeom>
        </p:spPr>
      </p:pic>
      <p:pic>
        <p:nvPicPr>
          <p:cNvPr id="7" name="Image 1" descr="/mnt/data/slike_extracted/image7.png"/>
          <p:cNvPicPr>
            <a:picLocks noChangeAspect="1"/>
          </p:cNvPicPr>
          <p:nvPr/>
        </p:nvPicPr>
        <p:blipFill>
          <a:blip r:embed="rId4"/>
          <a:srcRect t="8" b="8"/>
          <a:stretch/>
        </p:blipFill>
        <p:spPr>
          <a:xfrm>
            <a:off x="5486400" y="1188720"/>
            <a:ext cx="5394960" cy="1316736"/>
          </a:xfrm>
          <a:prstGeom prst="rect">
            <a:avLst/>
          </a:prstGeom>
        </p:spPr>
      </p:pic>
      <p:pic>
        <p:nvPicPr>
          <p:cNvPr id="8" name="Image 2" descr="/mnt/data/slike_extracted/image8.png"/>
          <p:cNvPicPr>
            <a:picLocks noChangeAspect="1"/>
          </p:cNvPicPr>
          <p:nvPr/>
        </p:nvPicPr>
        <p:blipFill>
          <a:blip r:embed="rId5"/>
          <a:srcRect l="53" r="53"/>
          <a:stretch/>
        </p:blipFill>
        <p:spPr>
          <a:xfrm>
            <a:off x="5486400" y="2834640"/>
            <a:ext cx="5394960" cy="1316736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868680" y="5074920"/>
            <a:ext cx="347472" cy="347472"/>
          </a:xfrm>
          <a:prstGeom prst="ellipse">
            <a:avLst/>
          </a:prstGeom>
          <a:solidFill>
            <a:srgbClr val="004B67"/>
          </a:solidFill>
          <a:ln w="12700">
            <a:solidFill>
              <a:srgbClr val="004B67"/>
            </a:solidFill>
            <a:prstDash val="solid"/>
          </a:ln>
        </p:spPr>
        <p:txBody>
          <a:bodyPr/>
          <a:lstStyle/>
          <a:p>
            <a:endParaRPr lang="sl-SI"/>
          </a:p>
        </p:txBody>
      </p:sp>
      <p:sp>
        <p:nvSpPr>
          <p:cNvPr id="10" name="Text 5"/>
          <p:cNvSpPr/>
          <p:nvPr/>
        </p:nvSpPr>
        <p:spPr>
          <a:xfrm>
            <a:off x="868680" y="5166360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1</a:t>
            </a:r>
            <a:endParaRPr lang="en-US" sz="800" dirty="0"/>
          </a:p>
        </p:txBody>
      </p:sp>
      <p:sp>
        <p:nvSpPr>
          <p:cNvPr id="11" name="Shape 6"/>
          <p:cNvSpPr/>
          <p:nvPr/>
        </p:nvSpPr>
        <p:spPr>
          <a:xfrm>
            <a:off x="1252728" y="5248656"/>
            <a:ext cx="1243584" cy="0"/>
          </a:xfrm>
          <a:prstGeom prst="line">
            <a:avLst/>
          </a:prstGeom>
          <a:noFill/>
          <a:ln w="15240">
            <a:solidFill>
              <a:srgbClr val="C9D7E1"/>
            </a:solidFill>
            <a:prstDash val="solid"/>
          </a:ln>
        </p:spPr>
        <p:txBody>
          <a:bodyPr/>
          <a:lstStyle/>
          <a:p>
            <a:endParaRPr lang="sl-SI"/>
          </a:p>
        </p:txBody>
      </p:sp>
      <p:sp>
        <p:nvSpPr>
          <p:cNvPr id="12" name="Text 7"/>
          <p:cNvSpPr/>
          <p:nvPr/>
        </p:nvSpPr>
        <p:spPr>
          <a:xfrm>
            <a:off x="640080" y="553212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1F2933"/>
                </a:solidFill>
              </a:rPr>
              <a:t>Checkout kode</a:t>
            </a:r>
            <a:endParaRPr lang="en-US" sz="860" dirty="0"/>
          </a:p>
        </p:txBody>
      </p:sp>
      <p:sp>
        <p:nvSpPr>
          <p:cNvPr id="13" name="Shape 8"/>
          <p:cNvSpPr/>
          <p:nvPr/>
        </p:nvSpPr>
        <p:spPr>
          <a:xfrm>
            <a:off x="2560320" y="5074920"/>
            <a:ext cx="347472" cy="347472"/>
          </a:xfrm>
          <a:prstGeom prst="ellipse">
            <a:avLst/>
          </a:prstGeom>
          <a:solidFill>
            <a:srgbClr val="004B67"/>
          </a:solidFill>
          <a:ln w="12700">
            <a:solidFill>
              <a:srgbClr val="004B67"/>
            </a:solidFill>
            <a:prstDash val="solid"/>
          </a:ln>
        </p:spPr>
        <p:txBody>
          <a:bodyPr/>
          <a:lstStyle/>
          <a:p>
            <a:endParaRPr lang="sl-SI"/>
          </a:p>
        </p:txBody>
      </p:sp>
      <p:sp>
        <p:nvSpPr>
          <p:cNvPr id="14" name="Text 9"/>
          <p:cNvSpPr/>
          <p:nvPr/>
        </p:nvSpPr>
        <p:spPr>
          <a:xfrm>
            <a:off x="2560320" y="5166360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2</a:t>
            </a:r>
            <a:endParaRPr lang="en-US" sz="800" dirty="0"/>
          </a:p>
        </p:txBody>
      </p:sp>
      <p:sp>
        <p:nvSpPr>
          <p:cNvPr id="15" name="Shape 10"/>
          <p:cNvSpPr/>
          <p:nvPr/>
        </p:nvSpPr>
        <p:spPr>
          <a:xfrm>
            <a:off x="2944368" y="5248656"/>
            <a:ext cx="1243584" cy="0"/>
          </a:xfrm>
          <a:prstGeom prst="line">
            <a:avLst/>
          </a:prstGeom>
          <a:noFill/>
          <a:ln w="15240">
            <a:solidFill>
              <a:srgbClr val="C9D7E1"/>
            </a:solidFill>
            <a:prstDash val="solid"/>
          </a:ln>
        </p:spPr>
        <p:txBody>
          <a:bodyPr/>
          <a:lstStyle/>
          <a:p>
            <a:endParaRPr lang="sl-SI"/>
          </a:p>
        </p:txBody>
      </p:sp>
      <p:sp>
        <p:nvSpPr>
          <p:cNvPr id="16" name="Text 11"/>
          <p:cNvSpPr/>
          <p:nvPr/>
        </p:nvSpPr>
        <p:spPr>
          <a:xfrm>
            <a:off x="2331720" y="553212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1F2933"/>
                </a:solidFill>
              </a:rPr>
              <a:t>Namestitev Node.js</a:t>
            </a:r>
            <a:endParaRPr lang="en-US" sz="860" dirty="0"/>
          </a:p>
        </p:txBody>
      </p:sp>
      <p:sp>
        <p:nvSpPr>
          <p:cNvPr id="17" name="Shape 12"/>
          <p:cNvSpPr/>
          <p:nvPr/>
        </p:nvSpPr>
        <p:spPr>
          <a:xfrm>
            <a:off x="4251960" y="5074920"/>
            <a:ext cx="347472" cy="347472"/>
          </a:xfrm>
          <a:prstGeom prst="ellipse">
            <a:avLst/>
          </a:prstGeom>
          <a:solidFill>
            <a:srgbClr val="004B67"/>
          </a:solidFill>
          <a:ln w="12700">
            <a:solidFill>
              <a:srgbClr val="004B67"/>
            </a:solidFill>
            <a:prstDash val="solid"/>
          </a:ln>
        </p:spPr>
        <p:txBody>
          <a:bodyPr/>
          <a:lstStyle/>
          <a:p>
            <a:endParaRPr lang="sl-SI"/>
          </a:p>
        </p:txBody>
      </p:sp>
      <p:sp>
        <p:nvSpPr>
          <p:cNvPr id="18" name="Text 13"/>
          <p:cNvSpPr/>
          <p:nvPr/>
        </p:nvSpPr>
        <p:spPr>
          <a:xfrm>
            <a:off x="4251960" y="5166360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3</a:t>
            </a:r>
            <a:endParaRPr lang="en-US" sz="800" dirty="0"/>
          </a:p>
        </p:txBody>
      </p:sp>
      <p:sp>
        <p:nvSpPr>
          <p:cNvPr id="19" name="Shape 14"/>
          <p:cNvSpPr/>
          <p:nvPr/>
        </p:nvSpPr>
        <p:spPr>
          <a:xfrm>
            <a:off x="4636008" y="5248656"/>
            <a:ext cx="1243584" cy="0"/>
          </a:xfrm>
          <a:prstGeom prst="line">
            <a:avLst/>
          </a:prstGeom>
          <a:noFill/>
          <a:ln w="15240">
            <a:solidFill>
              <a:srgbClr val="C9D7E1"/>
            </a:solidFill>
            <a:prstDash val="solid"/>
          </a:ln>
        </p:spPr>
        <p:txBody>
          <a:bodyPr/>
          <a:lstStyle/>
          <a:p>
            <a:endParaRPr lang="sl-SI"/>
          </a:p>
        </p:txBody>
      </p:sp>
      <p:sp>
        <p:nvSpPr>
          <p:cNvPr id="20" name="Text 15"/>
          <p:cNvSpPr/>
          <p:nvPr/>
        </p:nvSpPr>
        <p:spPr>
          <a:xfrm>
            <a:off x="4023360" y="553212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1F2933"/>
                </a:solidFill>
              </a:rPr>
              <a:t>npm ci + test</a:t>
            </a:r>
            <a:endParaRPr lang="en-US" sz="860" dirty="0"/>
          </a:p>
        </p:txBody>
      </p:sp>
      <p:sp>
        <p:nvSpPr>
          <p:cNvPr id="21" name="Shape 16"/>
          <p:cNvSpPr/>
          <p:nvPr/>
        </p:nvSpPr>
        <p:spPr>
          <a:xfrm>
            <a:off x="5943600" y="5074920"/>
            <a:ext cx="347472" cy="347472"/>
          </a:xfrm>
          <a:prstGeom prst="ellipse">
            <a:avLst/>
          </a:prstGeom>
          <a:solidFill>
            <a:srgbClr val="004B67"/>
          </a:solidFill>
          <a:ln w="12700">
            <a:solidFill>
              <a:srgbClr val="004B67"/>
            </a:solidFill>
            <a:prstDash val="solid"/>
          </a:ln>
        </p:spPr>
        <p:txBody>
          <a:bodyPr/>
          <a:lstStyle/>
          <a:p>
            <a:endParaRPr lang="sl-SI"/>
          </a:p>
        </p:txBody>
      </p:sp>
      <p:sp>
        <p:nvSpPr>
          <p:cNvPr id="22" name="Text 17"/>
          <p:cNvSpPr/>
          <p:nvPr/>
        </p:nvSpPr>
        <p:spPr>
          <a:xfrm>
            <a:off x="5943600" y="5166360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4</a:t>
            </a:r>
            <a:endParaRPr lang="en-US" sz="800" dirty="0"/>
          </a:p>
        </p:txBody>
      </p:sp>
      <p:sp>
        <p:nvSpPr>
          <p:cNvPr id="23" name="Shape 18"/>
          <p:cNvSpPr/>
          <p:nvPr/>
        </p:nvSpPr>
        <p:spPr>
          <a:xfrm>
            <a:off x="6327648" y="5248656"/>
            <a:ext cx="1243584" cy="0"/>
          </a:xfrm>
          <a:prstGeom prst="line">
            <a:avLst/>
          </a:prstGeom>
          <a:noFill/>
          <a:ln w="15240">
            <a:solidFill>
              <a:srgbClr val="C9D7E1"/>
            </a:solidFill>
            <a:prstDash val="solid"/>
          </a:ln>
        </p:spPr>
        <p:txBody>
          <a:bodyPr/>
          <a:lstStyle/>
          <a:p>
            <a:endParaRPr lang="sl-SI"/>
          </a:p>
        </p:txBody>
      </p:sp>
      <p:sp>
        <p:nvSpPr>
          <p:cNvPr id="24" name="Text 19"/>
          <p:cNvSpPr/>
          <p:nvPr/>
        </p:nvSpPr>
        <p:spPr>
          <a:xfrm>
            <a:off x="5715000" y="553212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1F2933"/>
                </a:solidFill>
              </a:rPr>
              <a:t>SSH na EC2</a:t>
            </a:r>
            <a:endParaRPr lang="en-US" sz="860" dirty="0"/>
          </a:p>
        </p:txBody>
      </p:sp>
      <p:sp>
        <p:nvSpPr>
          <p:cNvPr id="25" name="Shape 20"/>
          <p:cNvSpPr/>
          <p:nvPr/>
        </p:nvSpPr>
        <p:spPr>
          <a:xfrm>
            <a:off x="7635240" y="5074920"/>
            <a:ext cx="347472" cy="347472"/>
          </a:xfrm>
          <a:prstGeom prst="ellipse">
            <a:avLst/>
          </a:prstGeom>
          <a:solidFill>
            <a:srgbClr val="004B67"/>
          </a:solidFill>
          <a:ln w="12700">
            <a:solidFill>
              <a:srgbClr val="004B67"/>
            </a:solidFill>
            <a:prstDash val="solid"/>
          </a:ln>
        </p:spPr>
        <p:txBody>
          <a:bodyPr/>
          <a:lstStyle/>
          <a:p>
            <a:endParaRPr lang="sl-SI"/>
          </a:p>
        </p:txBody>
      </p:sp>
      <p:sp>
        <p:nvSpPr>
          <p:cNvPr id="26" name="Text 21"/>
          <p:cNvSpPr/>
          <p:nvPr/>
        </p:nvSpPr>
        <p:spPr>
          <a:xfrm>
            <a:off x="7635240" y="5166360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5</a:t>
            </a:r>
            <a:endParaRPr lang="en-US" sz="800" dirty="0"/>
          </a:p>
        </p:txBody>
      </p:sp>
      <p:sp>
        <p:nvSpPr>
          <p:cNvPr id="27" name="Shape 22"/>
          <p:cNvSpPr/>
          <p:nvPr/>
        </p:nvSpPr>
        <p:spPr>
          <a:xfrm>
            <a:off x="8019288" y="5248656"/>
            <a:ext cx="1243584" cy="0"/>
          </a:xfrm>
          <a:prstGeom prst="line">
            <a:avLst/>
          </a:prstGeom>
          <a:noFill/>
          <a:ln w="15240">
            <a:solidFill>
              <a:srgbClr val="C9D7E1"/>
            </a:solidFill>
            <a:prstDash val="solid"/>
          </a:ln>
        </p:spPr>
        <p:txBody>
          <a:bodyPr/>
          <a:lstStyle/>
          <a:p>
            <a:endParaRPr lang="sl-SI"/>
          </a:p>
        </p:txBody>
      </p:sp>
      <p:sp>
        <p:nvSpPr>
          <p:cNvPr id="28" name="Text 23"/>
          <p:cNvSpPr/>
          <p:nvPr/>
        </p:nvSpPr>
        <p:spPr>
          <a:xfrm>
            <a:off x="7406640" y="553212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1F2933"/>
                </a:solidFill>
              </a:rPr>
              <a:t>git pull/reset</a:t>
            </a:r>
            <a:endParaRPr lang="en-US" sz="860" dirty="0"/>
          </a:p>
        </p:txBody>
      </p:sp>
      <p:sp>
        <p:nvSpPr>
          <p:cNvPr id="29" name="Shape 24"/>
          <p:cNvSpPr/>
          <p:nvPr/>
        </p:nvSpPr>
        <p:spPr>
          <a:xfrm>
            <a:off x="9326880" y="5074920"/>
            <a:ext cx="347472" cy="347472"/>
          </a:xfrm>
          <a:prstGeom prst="ellipse">
            <a:avLst/>
          </a:prstGeom>
          <a:solidFill>
            <a:srgbClr val="004B67"/>
          </a:solidFill>
          <a:ln w="12700">
            <a:solidFill>
              <a:srgbClr val="004B67"/>
            </a:solidFill>
            <a:prstDash val="solid"/>
          </a:ln>
        </p:spPr>
        <p:txBody>
          <a:bodyPr/>
          <a:lstStyle/>
          <a:p>
            <a:endParaRPr lang="sl-SI"/>
          </a:p>
        </p:txBody>
      </p:sp>
      <p:sp>
        <p:nvSpPr>
          <p:cNvPr id="30" name="Text 25"/>
          <p:cNvSpPr/>
          <p:nvPr/>
        </p:nvSpPr>
        <p:spPr>
          <a:xfrm>
            <a:off x="9326880" y="5166360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6</a:t>
            </a:r>
            <a:endParaRPr lang="en-US" sz="800" dirty="0"/>
          </a:p>
        </p:txBody>
      </p:sp>
      <p:sp>
        <p:nvSpPr>
          <p:cNvPr id="31" name="Text 26"/>
          <p:cNvSpPr/>
          <p:nvPr/>
        </p:nvSpPr>
        <p:spPr>
          <a:xfrm>
            <a:off x="9098280" y="553212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1F2933"/>
                </a:solidFill>
              </a:rPr>
              <a:t>PM2 restart</a:t>
            </a:r>
            <a:endParaRPr lang="en-US" sz="86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 w="12700">
            <a:solidFill>
              <a:srgbClr val="F7F9FB"/>
            </a:solidFill>
            <a:prstDash val="solid"/>
          </a:ln>
        </p:spPr>
        <p:txBody>
          <a:bodyPr/>
          <a:lstStyle/>
          <a:p>
            <a:endParaRPr lang="sl-SI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4B67"/>
          </a:solidFill>
          <a:ln w="12700">
            <a:solidFill>
              <a:srgbClr val="004B67"/>
            </a:solidFill>
            <a:prstDash val="solid"/>
          </a:ln>
        </p:spPr>
        <p:txBody>
          <a:bodyPr/>
          <a:lstStyle/>
          <a:p>
            <a:endParaRPr lang="sl-SI"/>
          </a:p>
        </p:txBody>
      </p:sp>
      <p:sp>
        <p:nvSpPr>
          <p:cNvPr id="4" name="Text 2"/>
          <p:cNvSpPr/>
          <p:nvPr/>
        </p:nvSpPr>
        <p:spPr>
          <a:xfrm>
            <a:off x="502920" y="347472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Končni rezultat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21208" y="786384"/>
            <a:ext cx="8046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6B78"/>
                </a:solidFill>
              </a:rPr>
              <a:t>Aplikacija je dostopna prek javnega IP naslova EC2 strežnika</a:t>
            </a:r>
            <a:endParaRPr lang="en-US" sz="950" dirty="0"/>
          </a:p>
        </p:txBody>
      </p:sp>
      <p:pic>
        <p:nvPicPr>
          <p:cNvPr id="6" name="Image 0" descr="/mnt/data/slike_extracted/image10.png"/>
          <p:cNvPicPr>
            <a:picLocks noChangeAspect="1"/>
          </p:cNvPicPr>
          <p:nvPr/>
        </p:nvPicPr>
        <p:blipFill>
          <a:blip r:embed="rId3"/>
          <a:srcRect t="999" b="999"/>
          <a:stretch/>
        </p:blipFill>
        <p:spPr>
          <a:xfrm>
            <a:off x="685800" y="1325880"/>
            <a:ext cx="6583680" cy="3977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635240" y="1234440"/>
            <a:ext cx="361188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F2933"/>
                </a:solidFill>
              </a:rPr>
              <a:t>Rezultat projekta je delujoča spletna aplikacija, ki jo uporabnik odpre v brskalniku prek HTTP naslova. Aplikacija teče na Node.js, PM2 jo vzdržuje v ozadju, Nginx pa posreduje promet z vrat 80 na vrata 3000.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7635240" y="3456432"/>
            <a:ext cx="3383280" cy="0"/>
          </a:xfrm>
          <a:prstGeom prst="line">
            <a:avLst/>
          </a:prstGeom>
          <a:noFill/>
          <a:ln w="12700">
            <a:solidFill>
              <a:srgbClr val="C9D7E1"/>
            </a:solidFill>
            <a:prstDash val="solid"/>
          </a:ln>
        </p:spPr>
        <p:txBody>
          <a:bodyPr/>
          <a:lstStyle/>
          <a:p>
            <a:endParaRPr lang="sl-SI"/>
          </a:p>
        </p:txBody>
      </p:sp>
      <p:sp>
        <p:nvSpPr>
          <p:cNvPr id="9" name="Text 6"/>
          <p:cNvSpPr/>
          <p:nvPr/>
        </p:nvSpPr>
        <p:spPr>
          <a:xfrm>
            <a:off x="7635240" y="3749040"/>
            <a:ext cx="3611880" cy="960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D6B78"/>
                </a:solidFill>
              </a:rPr>
              <a:t>Preverjeno je bilo tudi stanje procesa z ukazom pm2 list in osnovni dostop do aplikacije v brskalniku.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754112" y="5143500"/>
            <a:ext cx="22311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0" b="1" dirty="0">
                <a:solidFill>
                  <a:srgbClr val="FFFFFF"/>
                </a:solidFill>
              </a:rPr>
              <a:t>http://javni-IP-naslov</a:t>
            </a:r>
            <a:endParaRPr lang="en-US" sz="83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4B67"/>
          </a:solidFill>
          <a:ln w="12700">
            <a:solidFill>
              <a:srgbClr val="004B67"/>
            </a:solidFill>
            <a:prstDash val="solid"/>
          </a:ln>
        </p:spPr>
        <p:txBody>
          <a:bodyPr/>
          <a:lstStyle/>
          <a:p>
            <a:endParaRPr lang="sl-SI"/>
          </a:p>
        </p:txBody>
      </p:sp>
      <p:sp>
        <p:nvSpPr>
          <p:cNvPr id="4" name="Text 2"/>
          <p:cNvSpPr/>
          <p:nvPr/>
        </p:nvSpPr>
        <p:spPr>
          <a:xfrm>
            <a:off x="502920" y="347472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 err="1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Zaključek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21208" y="786384"/>
            <a:ext cx="8046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6B78"/>
                </a:solidFill>
              </a:rPr>
              <a:t>Projekt prikaže osnovno avtomatizirano objavo aplikacije v oblaku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822960" y="1325880"/>
            <a:ext cx="201168" cy="201168"/>
          </a:xfrm>
          <a:prstGeom prst="ellipse">
            <a:avLst/>
          </a:prstGeom>
          <a:solidFill>
            <a:srgbClr val="004B67"/>
          </a:solidFill>
          <a:ln w="12700">
            <a:solidFill>
              <a:srgbClr val="004B67"/>
            </a:solidFill>
            <a:prstDash val="solid"/>
          </a:ln>
        </p:spPr>
        <p:txBody>
          <a:bodyPr/>
          <a:lstStyle/>
          <a:p>
            <a:endParaRPr lang="sl-SI"/>
          </a:p>
        </p:txBody>
      </p:sp>
      <p:sp>
        <p:nvSpPr>
          <p:cNvPr id="7" name="Text 5"/>
          <p:cNvSpPr/>
          <p:nvPr/>
        </p:nvSpPr>
        <p:spPr>
          <a:xfrm>
            <a:off x="1143000" y="1252728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F2933"/>
                </a:solidFill>
              </a:rPr>
              <a:t>EC2 strežnik je bil pripravljen za Node.js aplikacijo.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822960" y="2075688"/>
            <a:ext cx="201168" cy="201168"/>
          </a:xfrm>
          <a:prstGeom prst="ellipse">
            <a:avLst/>
          </a:prstGeom>
          <a:solidFill>
            <a:srgbClr val="004B67"/>
          </a:solidFill>
          <a:ln w="12700">
            <a:solidFill>
              <a:srgbClr val="004B67"/>
            </a:solidFill>
            <a:prstDash val="solid"/>
          </a:ln>
        </p:spPr>
        <p:txBody>
          <a:bodyPr/>
          <a:lstStyle/>
          <a:p>
            <a:endParaRPr lang="sl-SI"/>
          </a:p>
        </p:txBody>
      </p:sp>
      <p:sp>
        <p:nvSpPr>
          <p:cNvPr id="9" name="Text 7"/>
          <p:cNvSpPr/>
          <p:nvPr/>
        </p:nvSpPr>
        <p:spPr>
          <a:xfrm>
            <a:off x="1143000" y="2002536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F2933"/>
                </a:solidFill>
              </a:rPr>
              <a:t>GitHub Actions omogoča avtomatsko objavo iz repozitorija.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822960" y="2825496"/>
            <a:ext cx="201168" cy="201168"/>
          </a:xfrm>
          <a:prstGeom prst="ellipse">
            <a:avLst/>
          </a:prstGeom>
          <a:solidFill>
            <a:srgbClr val="004B67"/>
          </a:solidFill>
          <a:ln w="12700">
            <a:solidFill>
              <a:srgbClr val="004B67"/>
            </a:solidFill>
            <a:prstDash val="solid"/>
          </a:ln>
        </p:spPr>
        <p:txBody>
          <a:bodyPr/>
          <a:lstStyle/>
          <a:p>
            <a:endParaRPr lang="sl-SI"/>
          </a:p>
        </p:txBody>
      </p:sp>
      <p:sp>
        <p:nvSpPr>
          <p:cNvPr id="11" name="Text 9"/>
          <p:cNvSpPr/>
          <p:nvPr/>
        </p:nvSpPr>
        <p:spPr>
          <a:xfrm>
            <a:off x="1143000" y="2752344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F2933"/>
                </a:solidFill>
              </a:rPr>
              <a:t>PM2 in Nginx poskrbita za stabilno izvajanje in javni dostop.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914400" y="4892040"/>
            <a:ext cx="1005840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431</Words>
  <Application>Microsoft Office PowerPoint</Application>
  <PresentationFormat>Widescreen</PresentationFormat>
  <Paragraphs>84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CI/CD z GitHub Actions in AWS EC2</dc:title>
  <dc:subject>Kratka predstavitev projekta AWS Node.js CI/CD</dc:subject>
  <dc:creator>OpenAI</dc:creator>
  <cp:lastModifiedBy>tim slana</cp:lastModifiedBy>
  <cp:revision>4</cp:revision>
  <dcterms:created xsi:type="dcterms:W3CDTF">2026-05-04T15:34:22Z</dcterms:created>
  <dcterms:modified xsi:type="dcterms:W3CDTF">2026-05-04T15:38:17Z</dcterms:modified>
</cp:coreProperties>
</file>